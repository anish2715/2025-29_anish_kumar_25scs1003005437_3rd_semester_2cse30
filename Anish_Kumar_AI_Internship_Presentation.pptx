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640080"/>
            <a:ext cx="1005840" cy="1005840"/>
          </a:xfrm>
          <a:prstGeom prst="ellipse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463040"/>
            <a:ext cx="502920" cy="502920"/>
          </a:xfrm>
          <a:prstGeom prst="ellipse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1920240"/>
            <a:ext cx="329184" cy="329184"/>
          </a:xfrm>
          <a:prstGeom prst="ellipse">
            <a:avLst/>
          </a:prstGeom>
          <a:solidFill>
            <a:srgbClr val="2A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2743200"/>
            <a:ext cx="1508760" cy="1508760"/>
          </a:xfrm>
          <a:prstGeom prst="ellipse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7040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1">
                <a:solidFill>
                  <a:srgbClr val="36B9C6"/>
                </a:solidFill>
                <a:latin typeface="Aptos"/>
              </a:defRPr>
            </a:pPr>
            <a:r>
              <a:t>INTERNSHIP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8503920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AI-Powered Recruitment</a:t>
            </a:r>
            <a:br/>
            <a:r>
              <a:t>&amp; Applicant Tracking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46120"/>
            <a:ext cx="8138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0">
                <a:solidFill>
                  <a:srgbClr val="D1E1EF"/>
                </a:solidFill>
                <a:latin typeface="Aptos"/>
              </a:defRPr>
            </a:pPr>
            <a:r>
              <a:t>Artificial Intelligence Internship  |  Codec Technologies Pvt.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3977639"/>
            <a:ext cx="1005840" cy="6400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315968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Presented by Anish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773168"/>
            <a:ext cx="7040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300" b="0">
                <a:solidFill>
                  <a:srgbClr val="BECDDE"/>
                </a:solidFill>
                <a:latin typeface="Aptos"/>
              </a:defRPr>
            </a:pPr>
            <a:r>
              <a:t>B.Tech CSE – AI &amp; ML  •  Roll No. 25SCS1003005437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650992"/>
            <a:ext cx="59436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0">
                <a:solidFill>
                  <a:srgbClr val="BECDDE"/>
                </a:solidFill>
                <a:latin typeface="Aptos"/>
              </a:defRPr>
            </a:pPr>
            <a:r>
              <a:t>IILM University, Greater Noida</a:t>
            </a:r>
            <a:br/>
            <a:r>
              <a:t>17 July – 17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122440"/>
                </a:solidFill>
                <a:latin typeface="Aptos"/>
              </a:defRPr>
            </a:pPr>
            <a:r>
              <a:t>Internship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868680" cy="6400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29768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2371B4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508760"/>
          </a:xfrm>
          <a:prstGeom prst="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063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3063240" cy="7589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Codec Technologies Pvt. Ltd.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508760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063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2"/>
            <a:ext cx="3063240" cy="7589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One month</a:t>
            </a:r>
            <a:br/>
            <a:r>
              <a:t>17/07/2026 – 17/08/2026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508760"/>
          </a:xfrm>
          <a:prstGeom prst="rect">
            <a:avLst/>
          </a:prstGeom>
          <a:solidFill>
            <a:srgbClr val="2A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30632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39112"/>
            <a:ext cx="3063240" cy="7589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Artificial Intelligence</a:t>
            </a:r>
            <a:br/>
            <a:r>
              <a:t>and AI-enabled 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000" b="1">
                <a:solidFill>
                  <a:srgbClr val="122440"/>
                </a:solidFill>
                <a:latin typeface="Aptos"/>
              </a:defRPr>
            </a:pPr>
            <a:r>
              <a:t>Internship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698480" cy="20116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Python programming and AI fundamentals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Natural Language Processing (NLP) and text processing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Resume information extraction and skill matching</a:t>
            </a:r>
          </a:p>
          <a:p>
            <a:pPr>
              <a:spcAft>
                <a:spcPts val="800"/>
              </a:spcAft>
              <a:defRPr sz="1700">
                <a:solidFill>
                  <a:srgbClr val="2D3748"/>
                </a:solidFill>
                <a:latin typeface="Aptos"/>
              </a:defRPr>
            </a:pPr>
            <a:r>
              <a:t>•  Understanding APIs, databases, testing and project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IILM UNIVERSITY  •  ARTIFICIAL INTELLIGENCE INTERNSHIP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2371B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122440"/>
                </a:solidFill>
                <a:latin typeface="Aptos"/>
              </a:defRPr>
            </a:pPr>
            <a:r>
              <a:t>Key learning areas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868680" cy="6400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29768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2371B4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554480"/>
          </a:xfrm>
          <a:prstGeom prst="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8006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AI &amp;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480060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Fundamentals of AI and basic machine-learning concepts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41732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417320"/>
            <a:ext cx="73152" cy="1554480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7" y="1581912"/>
            <a:ext cx="48006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2039112"/>
            <a:ext cx="480060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Programming for AI-related tasks and text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429000"/>
            <a:ext cx="73152" cy="1554480"/>
          </a:xfrm>
          <a:prstGeom prst="rect">
            <a:avLst/>
          </a:prstGeom>
          <a:solidFill>
            <a:srgbClr val="2A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593592"/>
            <a:ext cx="48006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NLP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050791"/>
            <a:ext cx="480060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Processing human-readable text and extracting information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42900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3429000"/>
            <a:ext cx="73152" cy="1554480"/>
          </a:xfrm>
          <a:prstGeom prst="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7" y="3593592"/>
            <a:ext cx="48006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Application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4050791"/>
            <a:ext cx="480060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APIs, databases, web applications, testing and debugging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6984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0">
                <a:solidFill>
                  <a:srgbClr val="64748B"/>
                </a:solidFill>
                <a:latin typeface="Aptos"/>
              </a:defRPr>
            </a:pPr>
            <a:r>
              <a:t>The internship connected academic concepts with a practical AI software workflow.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IILM UNIVERSITY  •  ARTIFICIAL INTELLIGENCE INTERNSHIP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2371B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122440"/>
                </a:solidFill>
                <a:latin typeface="Aptos"/>
              </a:defRPr>
            </a:pPr>
            <a:r>
              <a:t>Problem and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868680" cy="6400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29768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2371B4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200" b="1">
                <a:solidFill>
                  <a:srgbClr val="122440"/>
                </a:solidFill>
                <a:latin typeface="Aptos"/>
              </a:defRPr>
            </a:pPr>
            <a:r>
              <a:t>Recruitment teams often need to review many resumes and compare each profile with job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6032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60320"/>
            <a:ext cx="73152" cy="1965960"/>
          </a:xfrm>
          <a:prstGeom prst="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724912"/>
            <a:ext cx="30175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Manual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182112"/>
            <a:ext cx="3017520" cy="1216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Reviewing applications can take considerable time and effort.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6032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560320"/>
            <a:ext cx="73152" cy="1965960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724912"/>
            <a:ext cx="30175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Scattered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182112"/>
            <a:ext cx="3017520" cy="1216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Candidate details, job descriptions and interview stages need organization.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56032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2560320"/>
            <a:ext cx="73152" cy="1965960"/>
          </a:xfrm>
          <a:prstGeom prst="rect">
            <a:avLst/>
          </a:prstGeom>
          <a:solidFill>
            <a:srgbClr val="2A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724912"/>
            <a:ext cx="30175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Inconsistent screening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182112"/>
            <a:ext cx="3017520" cy="1216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2D3748"/>
                </a:solidFill>
                <a:latin typeface="Aptos"/>
              </a:defRPr>
            </a:pPr>
            <a:r>
              <a:t>Finding relevant skills and comparing profiles can be difficult at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20"/>
            <a:ext cx="104241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900" b="1">
                <a:solidFill>
                  <a:srgbClr val="2D3748"/>
                </a:solidFill>
                <a:latin typeface="Aptos"/>
              </a:defRPr>
            </a:pPr>
            <a:r>
              <a:t>Proposed response: a centralized platform with AI/NLP-assisted resume processing and recruitment tracking.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IILM UNIVERSITY  •  ARTIFICIAL INTELLIGENCE INTERNSHIP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2371B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122440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868680" cy="6400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29768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2371B4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607040" cy="44805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Centralize candidate profiles, applications and job requirements.</a:t>
            </a:r>
          </a:p>
          <a:p>
            <a:pPr>
              <a:spcAft>
                <a:spcPts val="12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Process resumes and extract useful information using AI/NLP techniques.</a:t>
            </a:r>
          </a:p>
          <a:p>
            <a:pPr>
              <a:spcAft>
                <a:spcPts val="12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Identify candidate skills and compare them with job requirements.</a:t>
            </a:r>
          </a:p>
          <a:p>
            <a:pPr>
              <a:spcAft>
                <a:spcPts val="12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Assist initial screening and candidate ranking using matching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Track recruitment stages and maintain interview-related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Connect AI processing with APIs, a database and an interactive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IILM UNIVERSITY  •  ARTIFICIAL INTELLIGENCE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2371B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122440"/>
                </a:solidFill>
                <a:latin typeface="Aptos"/>
              </a:defRPr>
            </a:pPr>
            <a:r>
              <a:t>Main system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868680" cy="6400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29768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2371B4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6060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572768"/>
          </a:xfrm>
          <a:prstGeom prst="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Candidate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240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300" b="0">
                <a:solidFill>
                  <a:srgbClr val="2D3748"/>
                </a:solidFill>
                <a:latin typeface="Aptos"/>
              </a:defRPr>
            </a:pPr>
            <a:r>
              <a:t>Profiles and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17320"/>
            <a:ext cx="26060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417320"/>
            <a:ext cx="73152" cy="157276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58191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Job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039112"/>
            <a:ext cx="2240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300" b="0">
                <a:solidFill>
                  <a:srgbClr val="2D3748"/>
                </a:solidFill>
                <a:latin typeface="Aptos"/>
              </a:defRPr>
            </a:pPr>
            <a:r>
              <a:t>Descriptions and role requirements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417320"/>
            <a:ext cx="26060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417320"/>
            <a:ext cx="73152" cy="1572768"/>
          </a:xfrm>
          <a:prstGeom prst="rect">
            <a:avLst/>
          </a:prstGeom>
          <a:solidFill>
            <a:srgbClr val="2A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158191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Resume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039112"/>
            <a:ext cx="2240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300" b="0">
                <a:solidFill>
                  <a:srgbClr val="2D3748"/>
                </a:solidFill>
                <a:latin typeface="Aptos"/>
              </a:defRPr>
            </a:pPr>
            <a:r>
              <a:t>Read and process resume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417320"/>
            <a:ext cx="26060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1417320"/>
            <a:ext cx="73152" cy="1572768"/>
          </a:xfrm>
          <a:prstGeom prst="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8048" y="158191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Skill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039112"/>
            <a:ext cx="2240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300" b="0">
                <a:solidFill>
                  <a:srgbClr val="2D3748"/>
                </a:solidFill>
                <a:latin typeface="Aptos"/>
              </a:defRPr>
            </a:pPr>
            <a:r>
              <a:t>Identify relevant candidate skills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29000"/>
            <a:ext cx="26060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429000"/>
            <a:ext cx="73152" cy="1572768"/>
          </a:xfrm>
          <a:prstGeom prst="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59359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Skill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50791"/>
            <a:ext cx="2240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300" b="0">
                <a:solidFill>
                  <a:srgbClr val="2D3748"/>
                </a:solidFill>
                <a:latin typeface="Aptos"/>
              </a:defRPr>
            </a:pPr>
            <a:r>
              <a:t>Compare skills with job needs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429000"/>
            <a:ext cx="26060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3429000"/>
            <a:ext cx="73152" cy="157276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67328" y="359359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Candidate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67328" y="4050791"/>
            <a:ext cx="2240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300" b="0">
                <a:solidFill>
                  <a:srgbClr val="2D3748"/>
                </a:solidFill>
                <a:latin typeface="Aptos"/>
              </a:defRPr>
            </a:pPr>
            <a:r>
              <a:t>Screening support from match information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429000"/>
            <a:ext cx="26060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3429000"/>
            <a:ext cx="73152" cy="1572768"/>
          </a:xfrm>
          <a:prstGeom prst="rect">
            <a:avLst/>
          </a:prstGeom>
          <a:solidFill>
            <a:srgbClr val="2A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359359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Hiring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7688" y="4050791"/>
            <a:ext cx="2240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300" b="0">
                <a:solidFill>
                  <a:srgbClr val="2D3748"/>
                </a:solidFill>
                <a:latin typeface="Aptos"/>
              </a:defRPr>
            </a:pPr>
            <a:r>
              <a:t>Track progress across stages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3429000"/>
            <a:ext cx="26060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0" y="3429000"/>
            <a:ext cx="73152" cy="1572768"/>
          </a:xfrm>
          <a:prstGeom prst="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28048" y="3593592"/>
            <a:ext cx="22402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Interview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8048" y="4050791"/>
            <a:ext cx="2240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300" b="0">
                <a:solidFill>
                  <a:srgbClr val="2D3748"/>
                </a:solidFill>
                <a:latin typeface="Aptos"/>
              </a:defRPr>
            </a:pPr>
            <a:r>
              <a:t>Keep interview details organized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623560"/>
            <a:ext cx="104241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Aptos"/>
              </a:defRPr>
            </a:pPr>
            <a:r>
              <a:t>AI integration connects the processing component to the wider application through APIs.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IILM UNIVERSITY  •  ARTIFICIAL INTELLIGENCE INTERNSHIP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2371B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122440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868680" cy="6400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29768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2371B4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103120" cy="658368"/>
          </a:xfrm>
          <a:prstGeom prst="round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53895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35607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0">
                <a:solidFill>
                  <a:srgbClr val="2D3748"/>
                </a:solidFill>
                <a:latin typeface="Aptos"/>
              </a:defRPr>
            </a:pPr>
            <a:r>
              <a:t>AI implementation, text processing and NLP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58568"/>
            <a:ext cx="2103120" cy="658368"/>
          </a:xfrm>
          <a:prstGeom prst="round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86584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68296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0">
                <a:solidFill>
                  <a:srgbClr val="2D3748"/>
                </a:solidFill>
                <a:latin typeface="Aptos"/>
              </a:defRPr>
            </a:pPr>
            <a:r>
              <a:t>Resume analysis and skill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91256"/>
            <a:ext cx="2103120" cy="658368"/>
          </a:xfrm>
          <a:prstGeom prst="roundRect">
            <a:avLst/>
          </a:prstGeom>
          <a:solidFill>
            <a:srgbClr val="2A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19272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300984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0">
                <a:solidFill>
                  <a:srgbClr val="2D3748"/>
                </a:solidFill>
                <a:latin typeface="Aptos"/>
              </a:defRPr>
            </a:pPr>
            <a:r>
              <a:t>Interactive user interface and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23944"/>
            <a:ext cx="2103120" cy="658368"/>
          </a:xfrm>
          <a:prstGeom prst="round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59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233672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0">
                <a:solidFill>
                  <a:srgbClr val="2D3748"/>
                </a:solidFill>
                <a:latin typeface="Aptos"/>
              </a:defRPr>
            </a:pPr>
            <a:r>
              <a:t>API services and communication between 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56632"/>
            <a:ext cx="2103120" cy="658368"/>
          </a:xfrm>
          <a:prstGeom prst="round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84648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5166360"/>
            <a:ext cx="78638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0">
                <a:solidFill>
                  <a:srgbClr val="2D3748"/>
                </a:solidFill>
                <a:latin typeface="Aptos"/>
              </a:defRPr>
            </a:pPr>
            <a:r>
              <a:t>Structured recruitment data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IILM UNIVERSITY  •  ARTIFICIAL INTELLIGENCE INTERNSHIP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2371B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122440"/>
                </a:solidFill>
                <a:latin typeface="Aptos"/>
              </a:defRPr>
            </a:pPr>
            <a:r>
              <a:t>High-level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868680" cy="6400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29768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2371B4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1234440"/>
            <a:ext cx="3749039" cy="658368"/>
          </a:xfrm>
          <a:prstGeom prst="round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4248" y="1389888"/>
            <a:ext cx="3529583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Recruiter /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389888"/>
            <a:ext cx="52120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Uses the recruitment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865376"/>
            <a:ext cx="548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2371B4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2194560"/>
            <a:ext cx="3749039" cy="658368"/>
          </a:xfrm>
          <a:prstGeom prst="round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4248" y="2350008"/>
            <a:ext cx="3529583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React.js Front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350008"/>
            <a:ext cx="52120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Dashboard, candidate and job screens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825496"/>
            <a:ext cx="548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2371B4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19" y="3154680"/>
            <a:ext cx="3749039" cy="658368"/>
          </a:xfrm>
          <a:prstGeom prst="roundRect">
            <a:avLst/>
          </a:prstGeom>
          <a:solidFill>
            <a:srgbClr val="2A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84248" y="3310128"/>
            <a:ext cx="3529583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FastAPI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310128"/>
            <a:ext cx="52120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API communication and application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785616"/>
            <a:ext cx="548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2371B4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114800"/>
            <a:ext cx="3749039" cy="658368"/>
          </a:xfrm>
          <a:prstGeom prst="round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84248" y="4270248"/>
            <a:ext cx="3529583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Python AI / NLP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270248"/>
            <a:ext cx="52120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Resume processing, skill extraction and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745736"/>
            <a:ext cx="5486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2371B4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5074920"/>
            <a:ext cx="3749039" cy="658368"/>
          </a:xfrm>
          <a:prstGeom prst="round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84248" y="5230368"/>
            <a:ext cx="3529583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PostgreSQL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5230368"/>
            <a:ext cx="52120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Candidate, job, application and interview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IILM UNIVERSITY  •  ARTIFICIAL INTELLIGENCE INTERNSHIP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2371B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122440"/>
                </a:solidFill>
                <a:latin typeface="Aptos"/>
              </a:defRPr>
            </a:pPr>
            <a:r>
              <a:t>Development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868680" cy="6400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29768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2371B4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618488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36B9C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00200"/>
            <a:ext cx="2423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Requirement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8304" y="1618488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36B9C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00200"/>
            <a:ext cx="2423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System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37160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4" y="1618488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36B9C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1600200"/>
            <a:ext cx="2423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Data &amp; database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8892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35808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36B9C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017520"/>
            <a:ext cx="2423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AI/NLP planning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78892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8304" y="3035808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36B9C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17520"/>
            <a:ext cx="2423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Front-end development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78892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3064" y="3035808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36B9C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017520"/>
            <a:ext cx="2423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API development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0624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453127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36B9C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434840"/>
            <a:ext cx="2423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AI/NLP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20624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4" y="4453127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36B9C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434840"/>
            <a:ext cx="2423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Feature integration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420624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4" y="4453127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36B9C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434840"/>
            <a:ext cx="24231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122440"/>
                </a:solidFill>
                <a:latin typeface="Aptos"/>
              </a:defRPr>
            </a:pPr>
            <a:r>
              <a:t>Testing &amp; improvement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IILM UNIVERSITY  •  ARTIFICIAL INTELLIGENCE INTERNSHIP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2371B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122440"/>
                </a:solidFill>
                <a:latin typeface="Aptos"/>
              </a:defRPr>
            </a:pPr>
            <a:r>
              <a:t>Core AI components &amp; 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868680" cy="6400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29768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2371B4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417320"/>
          </a:xfrm>
          <a:prstGeom prst="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48463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Resume processing + NLP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4846320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Convert unstructured resume text into useful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1417320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36192"/>
            <a:ext cx="48463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Skill extraction +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93392"/>
            <a:ext cx="4846320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Compare extracted skills with a job description.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73152" cy="1417320"/>
          </a:xfrm>
          <a:prstGeom prst="rect">
            <a:avLst/>
          </a:prstGeom>
          <a:solidFill>
            <a:srgbClr val="2A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319272"/>
            <a:ext cx="48463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Candidate ranking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4846320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Help organize initial screening using match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5468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154680"/>
            <a:ext cx="73152" cy="1417320"/>
          </a:xfrm>
          <a:prstGeom prst="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319272"/>
            <a:ext cx="48463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Recruitment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776472"/>
            <a:ext cx="4846320" cy="6675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Keep candidate stages and interview details organized.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29260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900" b="1">
                <a:solidFill>
                  <a:srgbClr val="122440"/>
                </a:solidFill>
                <a:latin typeface="Aptos"/>
              </a:defRPr>
            </a:pPr>
            <a:r>
              <a:t>Anticipated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6984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2D3748"/>
                </a:solidFill>
                <a:latin typeface="Aptos"/>
              </a:defRPr>
            </a:pPr>
            <a:r>
              <a:t>• Better organization  • Easier access to information  • Faster skill identification  • Clearer recruitment-stage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IILM UNIVERSITY  •  ARTIFICIAL INTELLIGENCE INTERNSHIP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2371B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122440"/>
                </a:solidFill>
                <a:latin typeface="Aptos"/>
              </a:defRPr>
            </a:pPr>
            <a:r>
              <a:t>Learning outcomes and scope note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868680" cy="64008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429768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2371B4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56032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 Understood how AI and NLP can support recruitment workflows.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 Learned the role of Python, APIs, a web interface and a structured database.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 Gained a clearer view of layered architecture and feature integration.</a:t>
            </a:r>
          </a:p>
          <a:p>
            <a:pPr>
              <a:spcAft>
                <a:spcPts val="12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 Recognized the importance of testing, debugging and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34840"/>
            <a:ext cx="10515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73152" cy="1143000"/>
          </a:xfrm>
          <a:prstGeom prst="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599431"/>
            <a:ext cx="1014984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700" b="1">
                <a:solidFill>
                  <a:srgbClr val="122440"/>
                </a:solidFill>
                <a:latin typeface="Aptos"/>
              </a:defRPr>
            </a:pPr>
            <a:r>
              <a:t>Project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5056631"/>
            <a:ext cx="1014984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0">
                <a:solidFill>
                  <a:srgbClr val="2D3748"/>
                </a:solidFill>
                <a:latin typeface="Aptos"/>
              </a:defRPr>
            </a:pPr>
            <a:r>
              <a:t>The report describes an academic / proof-of-concept proposal. Exact AI models, authentication, external integrations and deployment details may depend on implementation.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9875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IILM UNIVERSITY  •  ARTIFICIAL INTELLIGENCE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2371B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36B9C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98755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Bringing AI into recruitment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98755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100" b="0">
                <a:solidFill>
                  <a:srgbClr val="D6E2EF"/>
                </a:solidFill>
                <a:latin typeface="Aptos"/>
              </a:defRPr>
            </a:pPr>
            <a:r>
              <a:t>The proposed system combines resume processing, skill extraction, candidate-job matching and recruitment tracking in one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2057400" cy="594360"/>
          </a:xfrm>
          <a:prstGeom prst="roundRect">
            <a:avLst/>
          </a:prstGeom>
          <a:solidFill>
            <a:srgbClr val="23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904487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AI + 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749039"/>
            <a:ext cx="2057400" cy="594360"/>
          </a:xfrm>
          <a:prstGeom prst="roundRect">
            <a:avLst/>
          </a:prstGeom>
          <a:solidFill>
            <a:srgbClr val="36B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3552" y="3904487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API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3749039"/>
            <a:ext cx="2057400" cy="594360"/>
          </a:xfrm>
          <a:prstGeom prst="roundRect">
            <a:avLst/>
          </a:prstGeom>
          <a:solidFill>
            <a:srgbClr val="2A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50992" y="3904487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Structured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41148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806440"/>
            <a:ext cx="6217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0">
                <a:solidFill>
                  <a:srgbClr val="BECDDE"/>
                </a:solidFill>
                <a:latin typeface="Aptos"/>
              </a:defRPr>
            </a:pPr>
            <a:r>
              <a:t>Anish Kumar  •  IILM University, Greater Noida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36B9C6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